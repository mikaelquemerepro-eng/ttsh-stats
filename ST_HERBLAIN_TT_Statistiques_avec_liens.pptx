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Taux de réussite par nombre de sets joués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Victoires</c:v>
                </c:pt>
              </c:strCache>
            </c:strRef>
          </c:tx>
          <c:spPr>
            <a:solidFill>
              <a:srgbClr val="4CAF50"/>
            </a:solidFill>
          </c:spPr>
          <c:cat>
            <c:strRef>
              <c:f>Sheet1!$A$2:$A$4</c:f>
              <c:strCache>
                <c:ptCount val="3"/>
                <c:pt idx="0">
                  <c:v>3 sets</c:v>
                </c:pt>
                <c:pt idx="1">
                  <c:v>4 sets</c:v>
                </c:pt>
                <c:pt idx="2">
                  <c:v>5 sets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</c:v>
                </c:pt>
                <c:pt idx="1">
                  <c:v>42</c:v>
                </c:pt>
                <c:pt idx="2">
                  <c:v>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Défaites</c:v>
                </c:pt>
              </c:strCache>
            </c:strRef>
          </c:tx>
          <c:spPr>
            <a:solidFill>
              <a:srgbClr val="F44336"/>
            </a:solidFill>
          </c:spPr>
          <c:cat>
            <c:strRef>
              <c:f>Sheet1!$A$2:$A$4</c:f>
              <c:strCache>
                <c:ptCount val="3"/>
                <c:pt idx="0">
                  <c:v>3 sets</c:v>
                </c:pt>
                <c:pt idx="1">
                  <c:v>4 sets</c:v>
                </c:pt>
                <c:pt idx="2">
                  <c:v>5 sets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34</c:v>
                </c:pt>
                <c:pt idx="1">
                  <c:v>24</c:v>
                </c:pt>
                <c:pt idx="2">
                  <c:v>18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Taux de réussite par nombre de sets joués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Victoires</c:v>
                </c:pt>
              </c:strCache>
            </c:strRef>
          </c:tx>
          <c:spPr>
            <a:solidFill>
              <a:srgbClr val="4CAF50"/>
            </a:solidFill>
          </c:spPr>
          <c:cat>
            <c:strRef>
              <c:f>Sheet1!$A$2:$A$4</c:f>
              <c:strCache>
                <c:ptCount val="3"/>
                <c:pt idx="0">
                  <c:v>3 sets</c:v>
                </c:pt>
                <c:pt idx="1">
                  <c:v>4 sets</c:v>
                </c:pt>
                <c:pt idx="2">
                  <c:v>5 sets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</c:v>
                </c:pt>
                <c:pt idx="1">
                  <c:v>25</c:v>
                </c:pt>
                <c:pt idx="2">
                  <c:v>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Défaites</c:v>
                </c:pt>
              </c:strCache>
            </c:strRef>
          </c:tx>
          <c:spPr>
            <a:solidFill>
              <a:srgbClr val="F44336"/>
            </a:solidFill>
          </c:spPr>
          <c:cat>
            <c:strRef>
              <c:f>Sheet1!$A$2:$A$4</c:f>
              <c:strCache>
                <c:ptCount val="3"/>
                <c:pt idx="0">
                  <c:v>3 sets</c:v>
                </c:pt>
                <c:pt idx="1">
                  <c:v>4 sets</c:v>
                </c:pt>
                <c:pt idx="2">
                  <c:v>5 sets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42</c:v>
                </c:pt>
                <c:pt idx="1">
                  <c:v>36</c:v>
                </c:pt>
                <c:pt idx="2">
                  <c:v>24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Taux de réussite par nombre de sets joués (toutes journées)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Victoires</c:v>
                </c:pt>
              </c:strCache>
            </c:strRef>
          </c:tx>
          <c:spPr>
            <a:solidFill>
              <a:srgbClr val="4CAF50"/>
            </a:solidFill>
          </c:spPr>
          <c:cat>
            <c:strRef>
              <c:f>Sheet1!$A$2:$A$4</c:f>
              <c:strCache>
                <c:ptCount val="3"/>
                <c:pt idx="0">
                  <c:v>3 sets</c:v>
                </c:pt>
                <c:pt idx="1">
                  <c:v>4 sets</c:v>
                </c:pt>
                <c:pt idx="2">
                  <c:v>5 sets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</c:v>
                </c:pt>
                <c:pt idx="1">
                  <c:v>67</c:v>
                </c:pt>
                <c:pt idx="2">
                  <c:v>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Défaites</c:v>
                </c:pt>
              </c:strCache>
            </c:strRef>
          </c:tx>
          <c:spPr>
            <a:solidFill>
              <a:srgbClr val="F44336"/>
            </a:solidFill>
          </c:spPr>
          <c:cat>
            <c:strRef>
              <c:f>Sheet1!$A$2:$A$4</c:f>
              <c:strCache>
                <c:ptCount val="3"/>
                <c:pt idx="0">
                  <c:v>3 sets</c:v>
                </c:pt>
                <c:pt idx="1">
                  <c:v>4 sets</c:v>
                </c:pt>
                <c:pt idx="2">
                  <c:v>5 sets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76</c:v>
                </c:pt>
                <c:pt idx="1">
                  <c:v>60</c:v>
                </c:pt>
                <c:pt idx="2">
                  <c:v>42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667EEA"/>
            </a:gs>
            <a:gs pos="100000">
              <a:srgbClr val="764BA2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🏓 ST HERBLAIN T.T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Résultats des matchs de tennis de table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667EEA"/>
            </a:gs>
            <a:gs pos="100000">
              <a:srgbClr val="764BA2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Menu Principal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286000"/>
            <a:ext cx="4572000" cy="548640"/>
          </a:xfrm>
          <a:prstGeom prst="rect">
            <a:avLst/>
          </a:prstGeom>
          <a:solidFill>
            <a:srgbClr val="667EEA"/>
          </a:solidFill>
          <a:ln w="25400">
            <a:solidFill>
              <a:srgbClr val="FFFFFF"/>
            </a:solidFill>
          </a:ln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hlinkClick r:id="" action="ppaction://hlinksldjump"/>
              </a:rPr>
              <a:t>📅 Journées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200400"/>
            <a:ext cx="4572000" cy="548640"/>
          </a:xfrm>
          <a:prstGeom prst="rect">
            <a:avLst/>
          </a:prstGeom>
          <a:solidFill>
            <a:srgbClr val="667EEA"/>
          </a:solidFill>
          <a:ln w="25400">
            <a:solidFill>
              <a:srgbClr val="FFFFFF"/>
            </a:solidFill>
          </a:ln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hlinkClick r:id="" action="ppaction://hlinksldjump"/>
              </a:rPr>
              <a:t>👥 Stats Joueurs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114800"/>
            <a:ext cx="4572000" cy="548640"/>
          </a:xfrm>
          <a:prstGeom prst="rect">
            <a:avLst/>
          </a:prstGeom>
          <a:solidFill>
            <a:srgbClr val="667EEA"/>
          </a:solidFill>
          <a:ln w="25400">
            <a:solidFill>
              <a:srgbClr val="FFFFFF"/>
            </a:solidFill>
          </a:ln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hlinkClick r:id="" action="ppaction://hlinksldjump"/>
              </a:rPr>
              <a:t>🏆 Stats Club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Journée J3 - 12/10/2025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645920" cy="1097280"/>
          </a:xfrm>
          <a:prstGeom prst="rect">
            <a:avLst/>
          </a:prstGeom>
          <a:solidFill>
            <a:srgbClr val="667EEA"/>
          </a:solidFill>
          <a:ln>
            <a:solidFill>
              <a:srgbClr val="C8C8C8"/>
            </a:solidFill>
          </a:ln>
        </p:spPr>
        <p:txBody>
          <a:bodyPr wrap="none" tIns="91440" bIns="9144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10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Matchs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914400"/>
            <a:ext cx="1645920" cy="1097280"/>
          </a:xfrm>
          <a:prstGeom prst="rect">
            <a:avLst/>
          </a:prstGeom>
          <a:solidFill>
            <a:srgbClr val="667EEA"/>
          </a:solidFill>
          <a:ln>
            <a:solidFill>
              <a:srgbClr val="C8C8C8"/>
            </a:solidFill>
          </a:ln>
        </p:spPr>
        <p:txBody>
          <a:bodyPr wrap="none" tIns="91440" bIns="9144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5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Victoires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914400"/>
            <a:ext cx="1645920" cy="1097280"/>
          </a:xfrm>
          <a:prstGeom prst="rect">
            <a:avLst/>
          </a:prstGeom>
          <a:solidFill>
            <a:srgbClr val="667EEA"/>
          </a:solidFill>
          <a:ln>
            <a:solidFill>
              <a:srgbClr val="C8C8C8"/>
            </a:solidFill>
          </a:ln>
        </p:spPr>
        <p:txBody>
          <a:bodyPr wrap="none" tIns="91440" bIns="9144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2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Nuls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914400"/>
            <a:ext cx="1645920" cy="1097280"/>
          </a:xfrm>
          <a:prstGeom prst="rect">
            <a:avLst/>
          </a:prstGeom>
          <a:solidFill>
            <a:srgbClr val="667EEA"/>
          </a:solidFill>
          <a:ln>
            <a:solidFill>
              <a:srgbClr val="C8C8C8"/>
            </a:solidFill>
          </a:ln>
        </p:spPr>
        <p:txBody>
          <a:bodyPr wrap="none" tIns="91440" bIns="9144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3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Défaites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828800" cy="1828800"/>
          </a:xfrm>
          <a:prstGeom prst="rect">
            <a:avLst/>
          </a:prstGeom>
          <a:solidFill>
            <a:srgbClr val="667EEA"/>
          </a:solidFill>
        </p:spPr>
        <p:txBody>
          <a:bodyPr wrap="none" tIns="182880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Ratio global</a:t>
            </a:r>
          </a:p>
          <a:p>
            <a:pPr algn="ctr">
              <a:defRPr sz="4800" b="1">
                <a:solidFill>
                  <a:srgbClr val="FFFFFF"/>
                </a:solidFill>
              </a:defRPr>
            </a:pPr>
            <a:r>
              <a:t>58%</a:t>
            </a:r>
          </a:p>
          <a:p>
            <a:br/>
            <a:pPr algn="ctr">
              <a:defRPr sz="1400">
                <a:solidFill>
                  <a:srgbClr val="FFFFFF"/>
                </a:solidFill>
              </a:defRPr>
            </a:pPr>
            <a:r>
              <a:t>Victoires: 105</a:t>
            </a:r>
            <a:br/>
            <a:r>
              <a:t>Défaites: 76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2926080" y="2560320"/>
          <a:ext cx="54864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303520"/>
            <a:ext cx="1828800" cy="457200"/>
          </a:xfrm>
          <a:prstGeom prst="rect">
            <a:avLst/>
          </a:prstGeom>
          <a:solidFill>
            <a:srgbClr val="969696"/>
          </a:solidFill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rPr>
                <a:hlinkClick r:id="" action="ppaction://hlinksldjump"/>
              </a:rPr>
              <a:t>◀ Retour Menu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Journée J4 - 16/11/2025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645920" cy="1097280"/>
          </a:xfrm>
          <a:prstGeom prst="rect">
            <a:avLst/>
          </a:prstGeom>
          <a:solidFill>
            <a:srgbClr val="667EEA"/>
          </a:solidFill>
          <a:ln>
            <a:solidFill>
              <a:srgbClr val="C8C8C8"/>
            </a:solidFill>
          </a:ln>
        </p:spPr>
        <p:txBody>
          <a:bodyPr wrap="none" tIns="91440" bIns="9144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10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Matchs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914400"/>
            <a:ext cx="1645920" cy="1097280"/>
          </a:xfrm>
          <a:prstGeom prst="rect">
            <a:avLst/>
          </a:prstGeom>
          <a:solidFill>
            <a:srgbClr val="667EEA"/>
          </a:solidFill>
          <a:ln>
            <a:solidFill>
              <a:srgbClr val="C8C8C8"/>
            </a:solidFill>
          </a:ln>
        </p:spPr>
        <p:txBody>
          <a:bodyPr wrap="none" tIns="91440" bIns="9144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3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Victoires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914400"/>
            <a:ext cx="1645920" cy="1097280"/>
          </a:xfrm>
          <a:prstGeom prst="rect">
            <a:avLst/>
          </a:prstGeom>
          <a:solidFill>
            <a:srgbClr val="667EEA"/>
          </a:solidFill>
          <a:ln>
            <a:solidFill>
              <a:srgbClr val="C8C8C8"/>
            </a:solidFill>
          </a:ln>
        </p:spPr>
        <p:txBody>
          <a:bodyPr wrap="none" tIns="91440" bIns="9144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1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Nuls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914400"/>
            <a:ext cx="1645920" cy="1097280"/>
          </a:xfrm>
          <a:prstGeom prst="rect">
            <a:avLst/>
          </a:prstGeom>
          <a:solidFill>
            <a:srgbClr val="667EEA"/>
          </a:solidFill>
          <a:ln>
            <a:solidFill>
              <a:srgbClr val="C8C8C8"/>
            </a:solidFill>
          </a:ln>
        </p:spPr>
        <p:txBody>
          <a:bodyPr wrap="none" tIns="91440" bIns="9144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6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Défaites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828800" cy="1828800"/>
          </a:xfrm>
          <a:prstGeom prst="rect">
            <a:avLst/>
          </a:prstGeom>
          <a:solidFill>
            <a:srgbClr val="667EEA"/>
          </a:solidFill>
        </p:spPr>
        <p:txBody>
          <a:bodyPr wrap="none" tIns="182880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Ratio global</a:t>
            </a:r>
          </a:p>
          <a:p>
            <a:pPr algn="ctr">
              <a:defRPr sz="4800" b="1">
                <a:solidFill>
                  <a:srgbClr val="FFFFFF"/>
                </a:solidFill>
              </a:defRPr>
            </a:pPr>
            <a:r>
              <a:t>45%</a:t>
            </a:r>
          </a:p>
          <a:p>
            <a:br/>
            <a:pPr algn="ctr">
              <a:defRPr sz="1400">
                <a:solidFill>
                  <a:srgbClr val="FFFFFF"/>
                </a:solidFill>
              </a:defRPr>
            </a:pPr>
            <a:r>
              <a:t>Victoires: 82</a:t>
            </a:r>
            <a:br/>
            <a:r>
              <a:t>Défaites: 102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2926080" y="2560320"/>
          <a:ext cx="54864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303520"/>
            <a:ext cx="1828800" cy="457200"/>
          </a:xfrm>
          <a:prstGeom prst="rect">
            <a:avLst/>
          </a:prstGeom>
          <a:solidFill>
            <a:srgbClr val="969696"/>
          </a:solidFill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rPr>
                <a:hlinkClick r:id="" action="ppaction://hlinksldjump"/>
              </a:rPr>
              <a:t>◀ Retour Menu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667EEA"/>
                </a:solidFill>
              </a:defRPr>
            </a:pPr>
            <a:r>
              <a:t>👥 Statistiques des joueurs ST HERBLAIN T.T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67EEA"/>
                </a:solidFill>
              </a:defRPr>
            </a:pPr>
            <a:r>
              <a:t>🏆 Classement des joueurs (minimum 3 matches)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3250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Joueur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Pts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Matches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V/D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Taux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Luan BRETON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7.0/0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100.0%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Franck ANDRE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964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6.0/0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Thibault PERRIDY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3.5/0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100.0%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Nicolas ROUAUD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1081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3.5/0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Patrick PINEAU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1218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100.0%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Manoah NEGRE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957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6.5/0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92.9%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Benjamin NUGUES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6.0/1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85.7%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Fabrice FOUCHER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994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6.0/1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85.7%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Quentin LEMETTE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85.7%</a:t>
                      </a:r>
                    </a:p>
                  </a:txBody>
                  <a:tcPr/>
                </a:tc>
              </a:tr>
              <a:tr h="33251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Vincent NOGUES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912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6.5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5.5/1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84.6%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303520"/>
            <a:ext cx="1828800" cy="457200"/>
          </a:xfrm>
          <a:prstGeom prst="rect">
            <a:avLst/>
          </a:prstGeom>
          <a:solidFill>
            <a:srgbClr val="969696"/>
          </a:solidFill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rPr>
                <a:hlinkClick r:id="" action="ppaction://hlinksldjump"/>
              </a:rPr>
              <a:t>◀ Retour Menu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667EEA"/>
                </a:solidFill>
              </a:defRPr>
            </a:pPr>
            <a:r>
              <a:t>🏆 Statistiques du club ST HERBLAIN T.T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C8C8C8"/>
            </a:solidFill>
          </a:ln>
        </p:spPr>
        <p:txBody>
          <a:bodyPr wrap="none" tIns="91440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70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Joueurs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1097280"/>
            <a:ext cx="18288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C8C8C8"/>
            </a:solidFill>
          </a:ln>
        </p:spPr>
        <p:txBody>
          <a:bodyPr wrap="none" tIns="91440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20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Matchs d'équipe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1097280"/>
            <a:ext cx="18288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C8C8C8"/>
            </a:solidFill>
          </a:ln>
        </p:spPr>
        <p:txBody>
          <a:bodyPr wrap="none" tIns="91440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374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Rencontres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097280"/>
            <a:ext cx="18288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C8C8C8"/>
            </a:solidFill>
          </a:ln>
        </p:spPr>
        <p:txBody>
          <a:bodyPr wrap="none" tIns="91440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Journées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828800" cy="1828800"/>
          </a:xfrm>
          <a:prstGeom prst="rect">
            <a:avLst/>
          </a:prstGeom>
          <a:solidFill>
            <a:srgbClr val="667EEA"/>
          </a:solidFill>
        </p:spPr>
        <p:txBody>
          <a:bodyPr wrap="none" tIns="182880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Ratio global</a:t>
            </a:r>
          </a:p>
          <a:p>
            <a:pPr algn="ctr">
              <a:defRPr sz="4800" b="1">
                <a:solidFill>
                  <a:srgbClr val="FFFFFF"/>
                </a:solidFill>
              </a:defRPr>
            </a:pPr>
            <a:r>
              <a:t>51%</a:t>
            </a:r>
          </a:p>
          <a:p>
            <a:br/>
            <a:pPr algn="ctr">
              <a:defRPr sz="1400">
                <a:solidFill>
                  <a:srgbClr val="FFFFFF"/>
                </a:solidFill>
              </a:defRPr>
            </a:pPr>
            <a:r>
              <a:t>Victoires: 187</a:t>
            </a:r>
            <a:br/>
            <a:r>
              <a:t>Défaites: 178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2926080" y="2560320"/>
          <a:ext cx="54864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303520"/>
            <a:ext cx="1828800" cy="457200"/>
          </a:xfrm>
          <a:prstGeom prst="rect">
            <a:avLst/>
          </a:prstGeom>
          <a:solidFill>
            <a:srgbClr val="969696"/>
          </a:solidFill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rPr>
                <a:hlinkClick r:id="" action="ppaction://hlinksldjump"/>
              </a:rPr>
              <a:t>◀ Retour Menu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